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94" r:id="rId3"/>
    <p:sldId id="296" r:id="rId4"/>
    <p:sldId id="297" r:id="rId5"/>
    <p:sldId id="298" r:id="rId6"/>
    <p:sldId id="299" r:id="rId7"/>
    <p:sldId id="300" r:id="rId8"/>
    <p:sldId id="301" r:id="rId9"/>
    <p:sldId id="302" r:id="rId10"/>
  </p:sldIdLst>
  <p:sldSz cx="9144000" cy="6858000" type="screen4x3"/>
  <p:notesSz cx="6797675" cy="9928225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97"/>
  </p:normalViewPr>
  <p:slideViewPr>
    <p:cSldViewPr>
      <p:cViewPr varScale="1">
        <p:scale>
          <a:sx n="108" d="100"/>
          <a:sy n="108" d="100"/>
        </p:scale>
        <p:origin x="1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65355A-067E-9B93-BCAA-127C486E0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831E29-693C-152D-E9FA-C545E75D82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51E70E-BE23-0FD2-98D7-C026F36827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CE9885-0CB7-1949-BFA2-80E04E0D2EC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0595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4BD5FD-0088-3A28-EF0C-699E013CA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AB7419-B7AD-A7DE-3BE7-F817A777D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56336B-E2B4-AE7B-517B-72713B3E1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13818D-96F3-F54F-AD2A-E4D9DE7AD2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0569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4246DE-D10A-C230-0C7F-9BD0595200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5987E2-8140-2F0D-A6C4-B51470655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C79C4F-31F5-BB00-2ACE-649D67614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79C403-9E0C-BB4A-B343-198C6EF58E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752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FE315-4536-258F-EDC8-5C5C14337C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E0C8A-8E8E-5DEC-A00D-B3C92F673E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E36F2-C408-4291-76A5-2580DC661C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0B31AB-68CD-2543-A2EE-62ADF6BBA6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1028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1FE63B-A5E1-DD15-5635-8456CAC4D0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263E6E-2EE8-9B50-2C68-8C0B91BE6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BE7CEA-2B0D-5B96-6F21-40F6EFB12A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3CD273-307E-7749-93EF-603068134B2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6601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E6F324A-9859-8BC8-10C6-CF78ECC4DD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EA8368-A194-5C22-4EB6-FA241EC24E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EF26678-6847-02CC-394A-F6C618A8DE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09840-88B9-934E-8554-EEC7E042567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9448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C50FD1-7503-7EF4-7097-F90034B58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D026947-696F-2E10-5AB6-70917B45B6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071F8C2-B087-C66A-0057-9B98AD1AF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272AB3-F619-4D44-942E-8EDE6CC710E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126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91012-2D10-AC89-51D3-E8898A17B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97758-1A07-0E33-1306-1055661A83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63607-7E51-7F71-54AC-EF45835AA6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2F5B2-79AE-6743-B71B-241821263D5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0748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746E0-61B0-2B4E-152F-3E2DF4993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8A3E03-4188-E362-8E13-5F72C2099A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B5222-A011-3319-82BD-EBCF6D271F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FE45F-7EAC-C041-9B48-7A9B05C007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0991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4E0566-82AE-AFB2-A5DD-26AF539E2B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C904EF-5DE9-BDD1-9A0C-3001C9CEEF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F16E52-9E92-7DBD-0220-CD79D40693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F4344D-8ED6-E04B-8A2F-AF93A5ABE9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5585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BAABCE-308B-1E9B-2D64-DD6EA897E6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3355AF-2867-0BB6-B320-6196259828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CDC1CD-34F8-396A-2FC2-836E82A635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3FAE9-52F8-DD44-B071-04ADBECCAB1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6679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900EA9-4E3B-7425-CB72-0612A824C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CD9078-A1E7-3667-CD9B-E2EC4AB12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98F2BC-0BB0-4ED2-90FD-000E5546D3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511205-9F3E-4516-87C2-232958DF88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B796DF-4FF3-4C2C-918A-C5F19A2DDA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18FFA44-981A-674A-B415-3B89AA8479E6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Альбина\Desktop\юургу\Радионов\презентации\5.jpg">
            <a:extLst>
              <a:ext uri="{FF2B5EF4-FFF2-40B4-BE49-F238E27FC236}">
                <a16:creationId xmlns:a16="http://schemas.microsoft.com/office/drawing/2014/main" id="{B49A2CCF-DBC7-F401-9EAA-20CC12A59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Прямоугольник 13">
            <a:extLst>
              <a:ext uri="{FF2B5EF4-FFF2-40B4-BE49-F238E27FC236}">
                <a16:creationId xmlns:a16="http://schemas.microsoft.com/office/drawing/2014/main" id="{49DCBBCA-2252-204F-FE5E-F8A4C69D0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520" y="2090172"/>
            <a:ext cx="91440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sz="2000" b="1" dirty="0"/>
              <a:t>Сравнительное исследование классических, машинно-обучаемых, глубоких и фундаментальных моделей для краткосрочного прогноза электропотребления</a:t>
            </a:r>
          </a:p>
          <a:p>
            <a:pPr algn="ctr">
              <a:buNone/>
            </a:pPr>
            <a:r>
              <a:rPr lang="en-US" sz="2000" b="1" dirty="0"/>
              <a:t>A Comparative Study of Machine Learning, Deep Learning, and Foundation Models for Short-Term Electricity Load Forecasting</a:t>
            </a:r>
            <a:endParaRPr lang="ru-US" sz="2000" b="1" dirty="0"/>
          </a:p>
          <a:p>
            <a:pPr algn="ctr">
              <a:buNone/>
            </a:pPr>
            <a:br>
              <a:rPr lang="en-US" sz="2000" b="1" dirty="0"/>
            </a:br>
            <a:endParaRPr lang="ru-RU" sz="2000" b="1" dirty="0"/>
          </a:p>
          <a:p>
            <a:pPr algn="ctr">
              <a:spcBef>
                <a:spcPct val="0"/>
              </a:spcBef>
              <a:buFontTx/>
              <a:buNone/>
            </a:pPr>
            <a:endParaRPr lang="ru-RU" altLang="ru-RU" sz="2000" b="1" dirty="0">
              <a:cs typeface="Arial" panose="020B0604020202020204" pitchFamily="34" charset="0"/>
            </a:endParaRPr>
          </a:p>
        </p:txBody>
      </p:sp>
      <p:sp>
        <p:nvSpPr>
          <p:cNvPr id="2052" name="Прямоугольник 13">
            <a:extLst>
              <a:ext uri="{FF2B5EF4-FFF2-40B4-BE49-F238E27FC236}">
                <a16:creationId xmlns:a16="http://schemas.microsoft.com/office/drawing/2014/main" id="{5E088A45-2B5A-7172-9054-CDC1AD73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4221088"/>
            <a:ext cx="4392613" cy="5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sz="1600" dirty="0"/>
              <a:t>Князев А. М., Гречаников Н. Д.</a:t>
            </a:r>
            <a:endParaRPr lang="ru-RU" altLang="ru-RU" sz="2400" dirty="0">
              <a:cs typeface="Arial" panose="020B0604020202020204" pitchFamily="34" charset="0"/>
            </a:endParaRPr>
          </a:p>
          <a:p>
            <a:r>
              <a:rPr lang="en-US" sz="1400" i="1" dirty="0"/>
              <a:t>RUDN University, Moscow, Russia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sp>
        <p:nvSpPr>
          <p:cNvPr id="3076" name="TextBox 3075"/>
          <p:cNvSpPr txBox="1"/>
          <p:nvPr/>
        </p:nvSpPr>
        <p:spPr>
          <a:xfrm>
            <a:off x="548640" y="1844824"/>
            <a:ext cx="804672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Char char="•"/>
            </a:pPr>
            <a:r>
              <a:rPr sz="1800" dirty="0" err="1">
                <a:latin typeface="Calibri"/>
              </a:rPr>
              <a:t>Краткосрочный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прогноз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потребления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электроэнергии</a:t>
            </a:r>
            <a:r>
              <a:rPr sz="1800" dirty="0">
                <a:latin typeface="Calibri"/>
              </a:rPr>
              <a:t> — </a:t>
            </a:r>
            <a:r>
              <a:rPr sz="1800" dirty="0" err="1">
                <a:latin typeface="Calibri"/>
              </a:rPr>
              <a:t>базовая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задача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планирования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работы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энергосистемы</a:t>
            </a:r>
            <a:r>
              <a:rPr sz="1800" dirty="0">
                <a:latin typeface="Calibri"/>
              </a:rPr>
              <a:t>: </a:t>
            </a:r>
            <a:r>
              <a:rPr sz="1800" dirty="0" err="1">
                <a:latin typeface="Calibri"/>
              </a:rPr>
              <a:t>выбор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состава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генерирующего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оборудования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расчёт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резерва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мощности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управление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спросом</a:t>
            </a:r>
            <a:r>
              <a:rPr sz="1800" dirty="0">
                <a:latin typeface="Calibri"/>
              </a:rPr>
              <a:t>.</a:t>
            </a:r>
          </a:p>
          <a:p>
            <a:endParaRPr sz="1800" dirty="0">
              <a:latin typeface="Calibri"/>
            </a:endParaRPr>
          </a:p>
          <a:p>
            <a:pPr>
              <a:buChar char="•"/>
            </a:pPr>
            <a:r>
              <a:rPr sz="1800" dirty="0" err="1">
                <a:latin typeface="Calibri"/>
              </a:rPr>
              <a:t>За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последний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год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появилось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новое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поколение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фундаментальных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моделей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для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временных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рядов</a:t>
            </a:r>
            <a:r>
              <a:rPr sz="1800" dirty="0">
                <a:latin typeface="Calibri"/>
              </a:rPr>
              <a:t> — Chronos, </a:t>
            </a:r>
            <a:r>
              <a:rPr sz="1800" dirty="0" err="1">
                <a:latin typeface="Calibri"/>
              </a:rPr>
              <a:t>TimesFM</a:t>
            </a:r>
            <a:r>
              <a:rPr sz="1800" dirty="0">
                <a:latin typeface="Calibri"/>
              </a:rPr>
              <a:t>, Lag-Llama. </a:t>
            </a:r>
            <a:r>
              <a:rPr sz="1800" dirty="0" err="1">
                <a:latin typeface="Calibri"/>
              </a:rPr>
              <a:t>Они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предобучены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больших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корпусах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дают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прогноз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без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дообучения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целевом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ряде</a:t>
            </a:r>
            <a:r>
              <a:rPr sz="1800" dirty="0">
                <a:latin typeface="Calibri"/>
              </a:rPr>
              <a:t>.</a:t>
            </a:r>
          </a:p>
          <a:p>
            <a:endParaRPr sz="1800" dirty="0">
              <a:latin typeface="Calibri"/>
            </a:endParaRPr>
          </a:p>
          <a:p>
            <a:pPr>
              <a:buChar char="•"/>
            </a:pPr>
            <a:r>
              <a:rPr sz="1800" dirty="0" err="1">
                <a:latin typeface="Calibri"/>
              </a:rPr>
              <a:t>Однако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в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литературе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почти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нет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прямых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сравнений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фундаментальных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моделей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специально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обученными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нейросетевыми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классическими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методами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единому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протоколу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без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утечек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данных</a:t>
            </a:r>
            <a:r>
              <a:rPr sz="180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sp>
        <p:nvSpPr>
          <p:cNvPr id="3076" name="TextBox 3075"/>
          <p:cNvSpPr txBox="1"/>
          <p:nvPr/>
        </p:nvSpPr>
        <p:spPr>
          <a:xfrm>
            <a:off x="548640" y="1628800"/>
            <a:ext cx="804672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 dirty="0" err="1">
                <a:solidFill>
                  <a:srgbClr val="1F497D"/>
                </a:solidFill>
                <a:latin typeface="Calibri"/>
              </a:rPr>
              <a:t>Цель</a:t>
            </a:r>
            <a:endParaRPr sz="2400" b="1" dirty="0">
              <a:solidFill>
                <a:srgbClr val="1F497D"/>
              </a:solidFill>
              <a:latin typeface="Calibri"/>
            </a:endParaRPr>
          </a:p>
          <a:p>
            <a:r>
              <a:rPr sz="1800" dirty="0" err="1">
                <a:latin typeface="Calibri"/>
              </a:rPr>
              <a:t>Количественно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оценить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как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фундаментальные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модели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без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дообучения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сравниваются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специально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обученными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нейросетевыми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классическими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методами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единому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хронологическому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протоколу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без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утечек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данных</a:t>
            </a:r>
            <a:r>
              <a:rPr sz="1800" dirty="0">
                <a:latin typeface="Calibri"/>
              </a:rPr>
              <a:t>.</a:t>
            </a:r>
          </a:p>
          <a:p>
            <a:endParaRPr sz="1800" dirty="0">
              <a:latin typeface="Calibri"/>
            </a:endParaRPr>
          </a:p>
          <a:p>
            <a:r>
              <a:rPr sz="2400" b="1" dirty="0" err="1">
                <a:solidFill>
                  <a:srgbClr val="1F497D"/>
                </a:solidFill>
                <a:latin typeface="Calibri"/>
              </a:rPr>
              <a:t>Задачи</a:t>
            </a:r>
            <a:endParaRPr sz="2400" b="1" dirty="0">
              <a:solidFill>
                <a:srgbClr val="1F497D"/>
              </a:solidFill>
              <a:latin typeface="Calibri"/>
            </a:endParaRPr>
          </a:p>
          <a:p>
            <a:r>
              <a:rPr sz="1800" dirty="0">
                <a:latin typeface="Calibri"/>
              </a:rPr>
              <a:t>1. </a:t>
            </a:r>
            <a:r>
              <a:rPr sz="1800" dirty="0" err="1">
                <a:latin typeface="Calibri"/>
              </a:rPr>
              <a:t>Построить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единый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конвейер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обработки</a:t>
            </a:r>
            <a:r>
              <a:rPr sz="1800" dirty="0">
                <a:latin typeface="Calibri"/>
              </a:rPr>
              <a:t>: </a:t>
            </a:r>
            <a:r>
              <a:rPr sz="1800" dirty="0" err="1">
                <a:latin typeface="Calibri"/>
              </a:rPr>
              <a:t>хронологическое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разбиение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стандартизация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обучающей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выборке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контекст</a:t>
            </a:r>
            <a:r>
              <a:rPr sz="1800" dirty="0">
                <a:latin typeface="Calibri"/>
              </a:rPr>
              <a:t> 336 </a:t>
            </a:r>
            <a:r>
              <a:rPr sz="1800" dirty="0" err="1">
                <a:latin typeface="Calibri"/>
              </a:rPr>
              <a:t>ч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горизонты</a:t>
            </a:r>
            <a:r>
              <a:rPr sz="1800" dirty="0">
                <a:latin typeface="Calibri"/>
              </a:rPr>
              <a:t> 24 / 96 / 168 </a:t>
            </a:r>
            <a:r>
              <a:rPr sz="1800" dirty="0" err="1">
                <a:latin typeface="Calibri"/>
              </a:rPr>
              <a:t>ч</a:t>
            </a:r>
            <a:r>
              <a:rPr sz="1800" dirty="0">
                <a:latin typeface="Calibri"/>
              </a:rPr>
              <a:t>.</a:t>
            </a:r>
          </a:p>
          <a:p>
            <a:r>
              <a:rPr sz="1800" dirty="0">
                <a:latin typeface="Calibri"/>
              </a:rPr>
              <a:t>2. </a:t>
            </a:r>
            <a:r>
              <a:rPr sz="1800" dirty="0" err="1">
                <a:latin typeface="Calibri"/>
              </a:rPr>
              <a:t>Сравнить</a:t>
            </a:r>
            <a:r>
              <a:rPr sz="1800" dirty="0">
                <a:latin typeface="Calibri"/>
              </a:rPr>
              <a:t> 8 </a:t>
            </a:r>
            <a:r>
              <a:rPr sz="1800" dirty="0" err="1">
                <a:latin typeface="Calibri"/>
              </a:rPr>
              <a:t>моделей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из</a:t>
            </a:r>
            <a:r>
              <a:rPr sz="1800" dirty="0">
                <a:latin typeface="Calibri"/>
              </a:rPr>
              <a:t> 3 </a:t>
            </a:r>
            <a:r>
              <a:rPr sz="1800" dirty="0" err="1">
                <a:latin typeface="Calibri"/>
              </a:rPr>
              <a:t>семейств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двух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наборах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данных</a:t>
            </a:r>
            <a:r>
              <a:rPr sz="1800" dirty="0">
                <a:latin typeface="Calibri"/>
              </a:rPr>
              <a:t> (ECL </a:t>
            </a:r>
            <a:r>
              <a:rPr sz="1800" dirty="0" err="1">
                <a:latin typeface="Calibri"/>
              </a:rPr>
              <a:t>и</a:t>
            </a:r>
            <a:r>
              <a:rPr sz="1800" dirty="0">
                <a:latin typeface="Calibri"/>
              </a:rPr>
              <a:t> ETTh1/HUFL) </a:t>
            </a:r>
            <a:r>
              <a:rPr sz="1800" dirty="0" err="1">
                <a:latin typeface="Calibri"/>
              </a:rPr>
              <a:t>по</a:t>
            </a:r>
            <a:r>
              <a:rPr sz="1800" dirty="0">
                <a:latin typeface="Calibri"/>
              </a:rPr>
              <a:t> 5 </a:t>
            </a:r>
            <a:r>
              <a:rPr sz="1800" dirty="0" err="1">
                <a:latin typeface="Calibri"/>
              </a:rPr>
              <a:t>случайным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инициализациям</a:t>
            </a:r>
            <a:r>
              <a:rPr sz="1800" dirty="0">
                <a:latin typeface="Calibri"/>
              </a:rPr>
              <a:t>.</a:t>
            </a:r>
          </a:p>
          <a:p>
            <a:r>
              <a:rPr sz="1800" dirty="0">
                <a:latin typeface="Calibri"/>
              </a:rPr>
              <a:t>3. </a:t>
            </a:r>
            <a:r>
              <a:rPr sz="1800" dirty="0" err="1">
                <a:latin typeface="Calibri"/>
              </a:rPr>
              <a:t>Провести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абляционное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исследование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по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бюджету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обучения</a:t>
            </a:r>
            <a:r>
              <a:rPr sz="1800" dirty="0">
                <a:latin typeface="Calibri"/>
              </a:rPr>
              <a:t> (</a:t>
            </a:r>
            <a:r>
              <a:rPr sz="1800" dirty="0" err="1">
                <a:latin typeface="Calibri"/>
              </a:rPr>
              <a:t>от</a:t>
            </a:r>
            <a:r>
              <a:rPr sz="1800" dirty="0">
                <a:latin typeface="Calibri"/>
              </a:rPr>
              <a:t> 500 </a:t>
            </a:r>
            <a:r>
              <a:rPr sz="1800" dirty="0" err="1">
                <a:latin typeface="Calibri"/>
              </a:rPr>
              <a:t>до</a:t>
            </a:r>
            <a:r>
              <a:rPr sz="1800" dirty="0">
                <a:latin typeface="Calibri"/>
              </a:rPr>
              <a:t> 5000 </a:t>
            </a:r>
            <a:r>
              <a:rPr sz="1800" dirty="0" err="1">
                <a:latin typeface="Calibri"/>
              </a:rPr>
              <a:t>шагов</a:t>
            </a:r>
            <a:r>
              <a:rPr sz="1800" dirty="0">
                <a:latin typeface="Calibri"/>
              </a:rPr>
              <a:t>).</a:t>
            </a:r>
          </a:p>
          <a:p>
            <a:r>
              <a:rPr sz="1800" dirty="0">
                <a:latin typeface="Calibri"/>
              </a:rPr>
              <a:t>4. </a:t>
            </a:r>
            <a:r>
              <a:rPr sz="1800" dirty="0" err="1">
                <a:latin typeface="Calibri"/>
              </a:rPr>
              <a:t>Проанализировать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компромисс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между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точностью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прогноза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задержкой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инференса</a:t>
            </a:r>
            <a:r>
              <a:rPr sz="180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sp>
        <p:nvSpPr>
          <p:cNvPr id="3076" name="TextBox 3075"/>
          <p:cNvSpPr txBox="1"/>
          <p:nvPr/>
        </p:nvSpPr>
        <p:spPr>
          <a:xfrm>
            <a:off x="365760" y="1705360"/>
            <a:ext cx="4206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1" dirty="0" err="1">
                <a:solidFill>
                  <a:srgbClr val="1F497D"/>
                </a:solidFill>
                <a:latin typeface="Calibri"/>
              </a:rPr>
              <a:t>Данные</a:t>
            </a:r>
            <a:endParaRPr sz="2000" b="1" dirty="0">
              <a:solidFill>
                <a:srgbClr val="1F497D"/>
              </a:solidFill>
              <a:latin typeface="Calibri"/>
            </a:endParaRPr>
          </a:p>
          <a:p>
            <a:r>
              <a:rPr sz="1600" dirty="0">
                <a:latin typeface="Calibri"/>
              </a:rPr>
              <a:t>• ECL — </a:t>
            </a:r>
            <a:r>
              <a:rPr sz="1600" dirty="0" err="1">
                <a:latin typeface="Calibri"/>
              </a:rPr>
              <a:t>суммарная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нагрузка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сети</a:t>
            </a:r>
            <a:endParaRPr sz="1600" dirty="0">
              <a:latin typeface="Calibri"/>
            </a:endParaRPr>
          </a:p>
          <a:p>
            <a:r>
              <a:rPr sz="1600" dirty="0">
                <a:latin typeface="Calibri"/>
              </a:rPr>
              <a:t>• ETTh1 / HUFL — </a:t>
            </a:r>
            <a:r>
              <a:rPr sz="1600" dirty="0" err="1">
                <a:latin typeface="Calibri"/>
              </a:rPr>
              <a:t>сигнал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датчика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трансформаторной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подстанции</a:t>
            </a:r>
            <a:endParaRPr sz="1600" dirty="0">
              <a:latin typeface="Calibri"/>
            </a:endParaRPr>
          </a:p>
          <a:p>
            <a:endParaRPr sz="1600" dirty="0">
              <a:latin typeface="Calibri"/>
            </a:endParaRPr>
          </a:p>
          <a:p>
            <a:r>
              <a:rPr sz="2000" b="1" dirty="0">
                <a:solidFill>
                  <a:srgbClr val="1F497D"/>
                </a:solidFill>
                <a:latin typeface="Calibri"/>
              </a:rPr>
              <a:t>Разбиение </a:t>
            </a:r>
            <a:r>
              <a:rPr sz="2000" b="1" dirty="0" err="1">
                <a:solidFill>
                  <a:srgbClr val="1F497D"/>
                </a:solidFill>
                <a:latin typeface="Calibri"/>
              </a:rPr>
              <a:t>выборки</a:t>
            </a:r>
            <a:endParaRPr sz="2000" b="1" dirty="0">
              <a:solidFill>
                <a:srgbClr val="1F497D"/>
              </a:solidFill>
              <a:latin typeface="Calibri"/>
            </a:endParaRPr>
          </a:p>
          <a:p>
            <a:r>
              <a:rPr sz="1600" dirty="0">
                <a:latin typeface="Calibri"/>
              </a:rPr>
              <a:t>• 70 / 15 / 15 </a:t>
            </a:r>
            <a:r>
              <a:rPr sz="1600" dirty="0" err="1">
                <a:latin typeface="Calibri"/>
              </a:rPr>
              <a:t>в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хронологическом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порядке</a:t>
            </a:r>
            <a:endParaRPr sz="1600" dirty="0">
              <a:latin typeface="Calibri"/>
            </a:endParaRPr>
          </a:p>
          <a:p>
            <a:r>
              <a:rPr sz="1600" dirty="0">
                <a:latin typeface="Calibri"/>
              </a:rPr>
              <a:t>• </a:t>
            </a:r>
            <a:r>
              <a:rPr sz="1600" dirty="0" err="1">
                <a:latin typeface="Calibri"/>
              </a:rPr>
              <a:t>Стандартизация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обучающей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части</a:t>
            </a:r>
            <a:endParaRPr sz="1600" dirty="0">
              <a:latin typeface="Calibri"/>
            </a:endParaRPr>
          </a:p>
          <a:p>
            <a:r>
              <a:rPr sz="1600" dirty="0">
                <a:latin typeface="Calibri"/>
              </a:rPr>
              <a:t>• </a:t>
            </a:r>
            <a:r>
              <a:rPr sz="1600" dirty="0" err="1">
                <a:latin typeface="Calibri"/>
              </a:rPr>
              <a:t>Скользящие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окна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без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утечек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данных</a:t>
            </a:r>
            <a:endParaRPr sz="1600" dirty="0">
              <a:latin typeface="Calibri"/>
            </a:endParaRPr>
          </a:p>
          <a:p>
            <a:endParaRPr sz="1600" dirty="0">
              <a:latin typeface="Calibri"/>
            </a:endParaRPr>
          </a:p>
          <a:p>
            <a:r>
              <a:rPr sz="2000" b="1" dirty="0" err="1">
                <a:solidFill>
                  <a:srgbClr val="1F497D"/>
                </a:solidFill>
                <a:latin typeface="Calibri"/>
              </a:rPr>
              <a:t>Параметры</a:t>
            </a:r>
            <a:r>
              <a:rPr sz="20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F497D"/>
                </a:solidFill>
                <a:latin typeface="Calibri"/>
              </a:rPr>
              <a:t>эксперимента</a:t>
            </a:r>
            <a:endParaRPr sz="2000" b="1" dirty="0">
              <a:solidFill>
                <a:srgbClr val="1F497D"/>
              </a:solidFill>
              <a:latin typeface="Calibri"/>
            </a:endParaRPr>
          </a:p>
          <a:p>
            <a:r>
              <a:rPr sz="1600" dirty="0">
                <a:latin typeface="Calibri"/>
              </a:rPr>
              <a:t>• </a:t>
            </a:r>
            <a:r>
              <a:rPr sz="1600" dirty="0" err="1">
                <a:latin typeface="Calibri"/>
              </a:rPr>
              <a:t>Контекст</a:t>
            </a:r>
            <a:r>
              <a:rPr sz="1600" dirty="0">
                <a:latin typeface="Calibri"/>
              </a:rPr>
              <a:t> L = 336 </a:t>
            </a:r>
            <a:r>
              <a:rPr sz="1600" dirty="0" err="1">
                <a:latin typeface="Calibri"/>
              </a:rPr>
              <a:t>ч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две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недели</a:t>
            </a:r>
            <a:r>
              <a:rPr sz="1600" dirty="0">
                <a:latin typeface="Calibri"/>
              </a:rPr>
              <a:t>)</a:t>
            </a:r>
          </a:p>
          <a:p>
            <a:r>
              <a:rPr sz="1600" dirty="0">
                <a:latin typeface="Calibri"/>
              </a:rPr>
              <a:t>• </a:t>
            </a:r>
            <a:r>
              <a:rPr sz="1600" dirty="0" err="1">
                <a:latin typeface="Calibri"/>
              </a:rPr>
              <a:t>Горизонты</a:t>
            </a:r>
            <a:r>
              <a:rPr sz="1600" dirty="0">
                <a:latin typeface="Calibri"/>
              </a:rPr>
              <a:t> H ∈ {24, 96, 168} </a:t>
            </a:r>
            <a:r>
              <a:rPr sz="1600" dirty="0" err="1">
                <a:latin typeface="Calibri"/>
              </a:rPr>
              <a:t>ч</a:t>
            </a:r>
            <a:endParaRPr sz="1600" dirty="0">
              <a:latin typeface="Calibri"/>
            </a:endParaRPr>
          </a:p>
          <a:p>
            <a:r>
              <a:rPr sz="1600" dirty="0">
                <a:latin typeface="Calibri"/>
              </a:rPr>
              <a:t>• 5 </a:t>
            </a:r>
            <a:r>
              <a:rPr sz="1600" dirty="0" err="1">
                <a:latin typeface="Calibri"/>
              </a:rPr>
              <a:t>случайных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инициализаций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конфигурацию</a:t>
            </a:r>
            <a:endParaRPr sz="1600" dirty="0">
              <a:latin typeface="Calibri"/>
            </a:endParaRPr>
          </a:p>
        </p:txBody>
      </p:sp>
      <p:pic>
        <p:nvPicPr>
          <p:cNvPr id="3077" name="Picture 3076" descr="fig1_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933" y="1780857"/>
            <a:ext cx="42976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292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pic>
        <p:nvPicPr>
          <p:cNvPr id="3077" name="Picture 3076" descr="fig6_ecl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52" y="1828800"/>
            <a:ext cx="6658896" cy="3931920"/>
          </a:xfrm>
          <a:prstGeom prst="rect">
            <a:avLst/>
          </a:prstGeom>
        </p:spPr>
      </p:pic>
      <p:sp>
        <p:nvSpPr>
          <p:cNvPr id="3078" name="TextBox 3077"/>
          <p:cNvSpPr txBox="1"/>
          <p:nvPr/>
        </p:nvSpPr>
        <p:spPr>
          <a:xfrm>
            <a:off x="365760" y="5852160"/>
            <a:ext cx="8412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>
                <a:latin typeface="Calibri"/>
              </a:rPr>
              <a:t>ECL, H = 24:  iTransformer 26 083 · DLinear 27 038 · PatchTST 31 430 · XGBoost 31 738 · SARIMA 263 914 · TimesFM 259 345 · Chronos-Bolt 259 546.</a:t>
            </a:r>
          </a:p>
          <a:p>
            <a:r>
              <a:rPr sz="1100">
                <a:latin typeface="Calibri"/>
              </a:rPr>
              <a:t>iTransformer лучший на ECL на всех горизонтах; DLinear — стабильно второй на длинных.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pic>
        <p:nvPicPr>
          <p:cNvPr id="3077" name="Picture 3076" descr="fig7_etth1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52" y="1828800"/>
            <a:ext cx="6658896" cy="3931920"/>
          </a:xfrm>
          <a:prstGeom prst="rect">
            <a:avLst/>
          </a:prstGeom>
        </p:spPr>
      </p:pic>
      <p:sp>
        <p:nvSpPr>
          <p:cNvPr id="3078" name="TextBox 3077"/>
          <p:cNvSpPr txBox="1"/>
          <p:nvPr/>
        </p:nvSpPr>
        <p:spPr>
          <a:xfrm>
            <a:off x="365760" y="5852160"/>
            <a:ext cx="8412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>
                <a:latin typeface="Calibri"/>
              </a:rPr>
              <a:t>ETTh1, H = 24:  Chronos-Bolt 3.00 · DLinear 3.07 · PatchTST 3.10 · TimesFM 3.16.</a:t>
            </a:r>
          </a:p>
          <a:p>
            <a:r>
              <a:rPr sz="1100">
                <a:latin typeface="Calibri"/>
              </a:rPr>
              <a:t>На H = 96 и H = 168 вперёд выходит DLinear, фундаментальные модели — в пределах нескольких процентов.</a:t>
            </a:r>
          </a:p>
          <a:p>
            <a:r>
              <a:rPr sz="1100" b="1">
                <a:latin typeface="Calibri"/>
              </a:rPr>
              <a:t>Вывод: прогноз без дообучения работает там, где целевой ряд близок по характеру к данным предобучения.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pic>
        <p:nvPicPr>
          <p:cNvPr id="3077" name="Picture 3076" descr="fig5_hori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828800"/>
            <a:ext cx="7372350" cy="3931920"/>
          </a:xfrm>
          <a:prstGeom prst="rect">
            <a:avLst/>
          </a:prstGeom>
        </p:spPr>
      </p:pic>
      <p:sp>
        <p:nvSpPr>
          <p:cNvPr id="3078" name="TextBox 3077"/>
          <p:cNvSpPr txBox="1"/>
          <p:nvPr/>
        </p:nvSpPr>
        <p:spPr>
          <a:xfrm>
            <a:off x="365760" y="5852160"/>
            <a:ext cx="8412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>
                <a:latin typeface="Calibri"/>
              </a:rPr>
              <a:t>ECL, H = 24: PatchTST и iTransformer обучались по {500, 1000, 2000, 5000} шагам с ранней остановкой.</a:t>
            </a:r>
          </a:p>
          <a:p>
            <a:r>
              <a:rPr sz="1100">
                <a:latin typeface="Calibri"/>
              </a:rPr>
              <a:t>PatchTST 31.4 – 33.7 тыс. MAE · iTransformer 26.1 – 29.8 тыс. MAE · разброс между бюджетами менее 4 %.</a:t>
            </a:r>
          </a:p>
          <a:p>
            <a:r>
              <a:rPr sz="1100">
                <a:latin typeface="Calibri"/>
              </a:rPr>
              <a:t>MAE фундаментальных моделей остаётся около 260 тыс. независимо от бюджета обучения нейросетей.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pic>
        <p:nvPicPr>
          <p:cNvPr id="3077" name="Picture 3076" descr="fig4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7680960" cy="3840480"/>
          </a:xfrm>
          <a:prstGeom prst="rect">
            <a:avLst/>
          </a:prstGeom>
        </p:spPr>
      </p:pic>
      <p:sp>
        <p:nvSpPr>
          <p:cNvPr id="3078" name="TextBox 3077"/>
          <p:cNvSpPr txBox="1"/>
          <p:nvPr/>
        </p:nvSpPr>
        <p:spPr>
          <a:xfrm>
            <a:off x="365760" y="5852160"/>
            <a:ext cx="8412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>
                <a:latin typeface="Calibri"/>
              </a:rPr>
              <a:t>SARIMA — менее 6 мс на окно, самая быстрая точка фронта Парето.</a:t>
            </a:r>
          </a:p>
          <a:p>
            <a:r>
              <a:rPr sz="1100">
                <a:latin typeface="Calibri"/>
              </a:rPr>
              <a:t>Фундаментальные модели в 13.6 раза медленнее SARIMA и в 4.2 раза тяжелее DLinear по числу параметров.</a:t>
            </a:r>
          </a:p>
          <a:p>
            <a:r>
              <a:rPr sz="1100" b="1">
                <a:latin typeface="Calibri"/>
              </a:rPr>
              <a:t>Рекомендуемое многоуровневое развёртывание: SARIMA — при жёстком ограничении задержки; нейросети — для основной нагрузки; фундаментальные модели — для холодного старта.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>
            <a:extLst>
              <a:ext uri="{FF2B5EF4-FFF2-40B4-BE49-F238E27FC236}">
                <a16:creationId xmlns:a16="http://schemas.microsoft.com/office/drawing/2014/main" id="{A8FAB954-4358-C272-C7DB-1C1F949C5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Прямоугольник 3">
            <a:extLst>
              <a:ext uri="{FF2B5EF4-FFF2-40B4-BE49-F238E27FC236}">
                <a16:creationId xmlns:a16="http://schemas.microsoft.com/office/drawing/2014/main" id="{9A10A06A-998B-E82F-21C5-EFA9BD9E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5125"/>
            <a:ext cx="698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cs typeface="Arial" panose="020B0604020202020204" pitchFamily="34" charset="0"/>
            </a:endParaRPr>
          </a:p>
        </p:txBody>
      </p:sp>
      <p:sp>
        <p:nvSpPr>
          <p:cNvPr id="3076" name="TextBox 3075"/>
          <p:cNvSpPr txBox="1"/>
          <p:nvPr/>
        </p:nvSpPr>
        <p:spPr>
          <a:xfrm>
            <a:off x="548640" y="1729110"/>
            <a:ext cx="804672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dirty="0">
                <a:latin typeface="Calibri"/>
              </a:rPr>
              <a:t>1. </a:t>
            </a:r>
            <a:r>
              <a:rPr sz="1700" dirty="0" err="1">
                <a:latin typeface="Calibri"/>
              </a:rPr>
              <a:t>По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единому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протоколу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без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утечек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данных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обученные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нейросети</a:t>
            </a:r>
            <a:r>
              <a:rPr sz="1700" dirty="0">
                <a:latin typeface="Calibri"/>
              </a:rPr>
              <a:t> (</a:t>
            </a:r>
            <a:r>
              <a:rPr sz="1700" dirty="0" err="1">
                <a:latin typeface="Calibri"/>
              </a:rPr>
              <a:t>iTransformer</a:t>
            </a:r>
            <a:r>
              <a:rPr sz="1700" dirty="0">
                <a:latin typeface="Calibri"/>
              </a:rPr>
              <a:t>, </a:t>
            </a:r>
            <a:r>
              <a:rPr sz="1700" dirty="0" err="1">
                <a:latin typeface="Calibri"/>
              </a:rPr>
              <a:t>DLinear</a:t>
            </a:r>
            <a:r>
              <a:rPr sz="1700" dirty="0">
                <a:latin typeface="Calibri"/>
              </a:rPr>
              <a:t>, </a:t>
            </a:r>
            <a:r>
              <a:rPr sz="1700" dirty="0" err="1">
                <a:latin typeface="Calibri"/>
              </a:rPr>
              <a:t>PatchTST</a:t>
            </a:r>
            <a:r>
              <a:rPr sz="1700" dirty="0">
                <a:latin typeface="Calibri"/>
              </a:rPr>
              <a:t>) </a:t>
            </a:r>
            <a:r>
              <a:rPr sz="1700" dirty="0" err="1">
                <a:latin typeface="Calibri"/>
              </a:rPr>
              <a:t>доминируют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на</a:t>
            </a:r>
            <a:r>
              <a:rPr sz="1700" dirty="0">
                <a:latin typeface="Calibri"/>
              </a:rPr>
              <a:t> ECL; </a:t>
            </a:r>
            <a:r>
              <a:rPr sz="1700" dirty="0" err="1">
                <a:latin typeface="Calibri"/>
              </a:rPr>
              <a:t>XGBoost</a:t>
            </a:r>
            <a:r>
              <a:rPr sz="1700" dirty="0">
                <a:latin typeface="Calibri"/>
              </a:rPr>
              <a:t> — </a:t>
            </a:r>
            <a:r>
              <a:rPr sz="1700" dirty="0" err="1">
                <a:latin typeface="Calibri"/>
              </a:rPr>
              <a:t>сильнейший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метод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без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глубокого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обучения</a:t>
            </a:r>
            <a:r>
              <a:rPr sz="1700" dirty="0">
                <a:latin typeface="Calibri"/>
              </a:rPr>
              <a:t>.</a:t>
            </a:r>
          </a:p>
          <a:p>
            <a:endParaRPr sz="1700" dirty="0">
              <a:latin typeface="Calibri"/>
            </a:endParaRPr>
          </a:p>
          <a:p>
            <a:r>
              <a:rPr sz="1700" dirty="0">
                <a:latin typeface="Calibri"/>
              </a:rPr>
              <a:t>2. </a:t>
            </a:r>
            <a:r>
              <a:rPr sz="1700" dirty="0" err="1">
                <a:latin typeface="Calibri"/>
              </a:rPr>
              <a:t>Фундаментальные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модели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без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дообучения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отстают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на</a:t>
            </a:r>
            <a:r>
              <a:rPr sz="1700" dirty="0">
                <a:latin typeface="Calibri"/>
              </a:rPr>
              <a:t> ECL </a:t>
            </a:r>
            <a:r>
              <a:rPr sz="1700" dirty="0" err="1">
                <a:latin typeface="Calibri"/>
              </a:rPr>
              <a:t>примерно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на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порядок</a:t>
            </a:r>
            <a:r>
              <a:rPr sz="1700" dirty="0">
                <a:latin typeface="Calibri"/>
              </a:rPr>
              <a:t>, </a:t>
            </a:r>
            <a:r>
              <a:rPr sz="1700" dirty="0" err="1">
                <a:latin typeface="Calibri"/>
              </a:rPr>
              <a:t>но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конкурентны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и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даже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лучшие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на</a:t>
            </a:r>
            <a:r>
              <a:rPr sz="1700" dirty="0">
                <a:latin typeface="Calibri"/>
              </a:rPr>
              <a:t> ETTh1 </a:t>
            </a:r>
            <a:r>
              <a:rPr sz="1700" dirty="0" err="1">
                <a:latin typeface="Calibri"/>
              </a:rPr>
              <a:t>при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горизонте</a:t>
            </a:r>
            <a:r>
              <a:rPr sz="1700" dirty="0">
                <a:latin typeface="Calibri"/>
              </a:rPr>
              <a:t> 24 </a:t>
            </a:r>
            <a:r>
              <a:rPr sz="1700" dirty="0" err="1">
                <a:latin typeface="Calibri"/>
              </a:rPr>
              <a:t>ч</a:t>
            </a:r>
            <a:r>
              <a:rPr sz="1700" dirty="0">
                <a:latin typeface="Calibri"/>
              </a:rPr>
              <a:t>.</a:t>
            </a:r>
          </a:p>
          <a:p>
            <a:endParaRPr sz="1700" dirty="0">
              <a:latin typeface="Calibri"/>
            </a:endParaRPr>
          </a:p>
          <a:p>
            <a:r>
              <a:rPr sz="1700" dirty="0">
                <a:latin typeface="Calibri"/>
              </a:rPr>
              <a:t>3. </a:t>
            </a:r>
            <a:r>
              <a:rPr sz="1700" dirty="0" err="1">
                <a:latin typeface="Calibri"/>
              </a:rPr>
              <a:t>Разрыв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на</a:t>
            </a:r>
            <a:r>
              <a:rPr sz="1700" dirty="0">
                <a:latin typeface="Calibri"/>
              </a:rPr>
              <a:t> ECL — </a:t>
            </a:r>
            <a:r>
              <a:rPr sz="1700" dirty="0" err="1">
                <a:latin typeface="Calibri"/>
              </a:rPr>
              <a:t>не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следствие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недостаточного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обучения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нейросетей</a:t>
            </a:r>
            <a:r>
              <a:rPr sz="1700" dirty="0">
                <a:latin typeface="Calibri"/>
              </a:rPr>
              <a:t>, </a:t>
            </a:r>
            <a:r>
              <a:rPr sz="1700" dirty="0" err="1">
                <a:latin typeface="Calibri"/>
              </a:rPr>
              <a:t>а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собственное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ограничение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режима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без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дообучения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при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существенном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сдвиге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распределения</a:t>
            </a:r>
            <a:r>
              <a:rPr sz="1700" dirty="0">
                <a:latin typeface="Calibri"/>
              </a:rPr>
              <a:t>.</a:t>
            </a:r>
          </a:p>
          <a:p>
            <a:endParaRPr sz="1700" dirty="0">
              <a:latin typeface="Calibri"/>
            </a:endParaRPr>
          </a:p>
          <a:p>
            <a:r>
              <a:rPr sz="1700" dirty="0">
                <a:latin typeface="Calibri"/>
              </a:rPr>
              <a:t>4. </a:t>
            </a:r>
            <a:r>
              <a:rPr sz="1700" dirty="0" err="1">
                <a:latin typeface="Calibri"/>
              </a:rPr>
              <a:t>Исходный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код</a:t>
            </a:r>
            <a:r>
              <a:rPr sz="1700" dirty="0">
                <a:latin typeface="Calibri"/>
              </a:rPr>
              <a:t>, </a:t>
            </a:r>
            <a:r>
              <a:rPr sz="1700" dirty="0" err="1">
                <a:latin typeface="Calibri"/>
              </a:rPr>
              <a:t>конфигурации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и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все</a:t>
            </a:r>
            <a:r>
              <a:rPr sz="1700" dirty="0">
                <a:latin typeface="Calibri"/>
              </a:rPr>
              <a:t> 144 </a:t>
            </a:r>
            <a:r>
              <a:rPr sz="1700" dirty="0" err="1">
                <a:latin typeface="Calibri"/>
              </a:rPr>
              <a:t>строки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результатов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опубликованы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для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воспроизведения</a:t>
            </a:r>
            <a:r>
              <a:rPr sz="1700" dirty="0">
                <a:latin typeface="Calibri"/>
              </a:rPr>
              <a:t>.</a:t>
            </a:r>
          </a:p>
          <a:p>
            <a:endParaRPr sz="1700" dirty="0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999</TotalTime>
  <Words>611</Words>
  <Application>Microsoft Macintosh PowerPoint</Application>
  <PresentationFormat>Экран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Оформление по умолчанию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PC</dc:creator>
  <cp:lastModifiedBy>Князев Арсений Михайлович</cp:lastModifiedBy>
  <cp:revision>106</cp:revision>
  <cp:lastPrinted>2017-05-23T11:47:05Z</cp:lastPrinted>
  <dcterms:created xsi:type="dcterms:W3CDTF">2016-06-20T09:35:04Z</dcterms:created>
  <dcterms:modified xsi:type="dcterms:W3CDTF">2026-05-21T09:32:48Z</dcterms:modified>
</cp:coreProperties>
</file>